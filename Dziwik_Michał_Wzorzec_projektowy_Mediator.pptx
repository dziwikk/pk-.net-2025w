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7" r:id="rId6"/>
    <p:sldId id="259" r:id="rId7"/>
    <p:sldId id="268" r:id="rId8"/>
    <p:sldId id="269" r:id="rId9"/>
    <p:sldId id="270" r:id="rId10"/>
    <p:sldId id="271" r:id="rId11"/>
    <p:sldId id="272" r:id="rId12"/>
    <p:sldId id="266" r:id="rId1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9" autoAdjust="0"/>
    <p:restoredTop sz="94660"/>
  </p:normalViewPr>
  <p:slideViewPr>
    <p:cSldViewPr snapToGrid="0">
      <p:cViewPr>
        <p:scale>
          <a:sx n="48" d="100"/>
          <a:sy n="48" d="100"/>
        </p:scale>
        <p:origin x="1152" y="12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4C14-201D-280F-3714-74922EE8C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111602-2BDB-EC13-9262-F4C2C9AFC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AACC6-65F4-83FB-745A-9E6FCBE10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052B-1B56-4D59-8D53-9A7C63125F71}" type="datetimeFigureOut">
              <a:rPr lang="pl-PL" smtClean="0"/>
              <a:t>3.12.2025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56465-24E4-C4B7-0F9A-74D0710CF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86A88-48AE-A849-CFC9-9646CD07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F560F-BF39-4CDC-B62C-FE2ECA017D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7795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3856D-E673-9A9D-8912-921B0AB5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34135-6659-CFE2-CAB9-66635B3AD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CA257-5E61-779A-57EF-DE60C87D0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052B-1B56-4D59-8D53-9A7C63125F71}" type="datetimeFigureOut">
              <a:rPr lang="pl-PL" smtClean="0"/>
              <a:t>3.12.2025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04336-E196-7E19-07A7-C36FAD541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CDC24-4513-4A5E-57A8-D6E3D182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F560F-BF39-4CDC-B62C-FE2ECA017D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7077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BE99-8844-F58D-680A-85442B94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474D3-93B0-90B2-D1E6-CFABC77F4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65EC2-5F33-D8A2-793B-348B49DF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052B-1B56-4D59-8D53-9A7C63125F71}" type="datetimeFigureOut">
              <a:rPr lang="pl-PL" smtClean="0"/>
              <a:t>3.12.2025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D0563-36C5-8AB3-D0C4-CEF724DB0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84FC6-CC4A-DBD1-923C-9E6A64680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F560F-BF39-4CDC-B62C-FE2ECA017D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3638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8D07B-E345-C51D-58B3-926C7E527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F764C-281A-B8F0-ED35-D591A7497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BAB8C-81E3-8591-1A1A-3518C58A8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004B2-471F-922E-B6F9-DD5599B7F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052B-1B56-4D59-8D53-9A7C63125F71}" type="datetimeFigureOut">
              <a:rPr lang="pl-PL" smtClean="0"/>
              <a:t>3.12.2025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0252D-93D8-2029-6937-C9859CC3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6F120-A683-5A96-46F9-FB73277D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F560F-BF39-4CDC-B62C-FE2ECA017D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09383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BA5FF-F26E-DBA6-8B33-3459DB120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F8901-EC78-8C06-6861-FD4A671D6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F0328-DEDA-2B0A-330A-43A153154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793250-95DD-7A1D-81AE-30A5E3CCAC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C209E7-65B1-C865-EBDA-4C3CDF87F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23266D-9FD1-E226-9470-C11A45DC6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052B-1B56-4D59-8D53-9A7C63125F71}" type="datetimeFigureOut">
              <a:rPr lang="pl-PL" smtClean="0"/>
              <a:t>3.12.2025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674BF7-60CE-B61C-4C80-8881CB8BE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F62EAB-1F59-7CCB-7393-94CA9C2B4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F560F-BF39-4CDC-B62C-FE2ECA017D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524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72A82-4650-8180-9BD5-BA86B800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5805A2-FC82-D914-9C9F-7DA22437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052B-1B56-4D59-8D53-9A7C63125F71}" type="datetimeFigureOut">
              <a:rPr lang="pl-PL" smtClean="0"/>
              <a:t>3.12.2025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350686-5218-3619-1214-4780203AD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93522B-557A-236D-81AB-BAA7F747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F560F-BF39-4CDC-B62C-FE2ECA017D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80697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BFA2A1-8792-406A-A97D-75EB396CD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052B-1B56-4D59-8D53-9A7C63125F71}" type="datetimeFigureOut">
              <a:rPr lang="pl-PL" smtClean="0"/>
              <a:t>3.12.2025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DE1166-3681-BD83-EB20-0A0AC0B04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2A015-F5D5-111B-C600-213B2A1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F560F-BF39-4CDC-B62C-FE2ECA017D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767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FA2D-8431-D97A-C693-DDD0DA89C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40A7F-00EB-4DF8-5791-0B311D401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99688-6CB7-8E94-6C07-B8B04DFE8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C0195-2372-7EEA-D422-AC9F8BBFB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052B-1B56-4D59-8D53-9A7C63125F71}" type="datetimeFigureOut">
              <a:rPr lang="pl-PL" smtClean="0"/>
              <a:t>3.12.2025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84F43-E06D-DDB7-DBEF-82D862C37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320A0-D6E4-2498-2056-3A0AB6130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F560F-BF39-4CDC-B62C-FE2ECA017D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3937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706F9-6ACA-80AC-6564-F1354340F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83E8FF-57C4-A2E0-3490-99031181E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EE4D9F-2D23-1246-8118-DA0F5DFE3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8FD0F-A6C2-2E9A-AD7F-7F1D8EC94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052B-1B56-4D59-8D53-9A7C63125F71}" type="datetimeFigureOut">
              <a:rPr lang="pl-PL" smtClean="0"/>
              <a:t>3.12.2025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15DF9-1951-52DB-551F-951A5307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FBF54-9A10-E0C3-1381-4E6D0298C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F560F-BF39-4CDC-B62C-FE2ECA017D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7080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0D18-A2C7-88B9-5370-9E8B6BB53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AAA6E5-575D-8FE3-DA5D-DC27244D3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A28B3-E4CA-CD77-AB06-0492816FD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052B-1B56-4D59-8D53-9A7C63125F71}" type="datetimeFigureOut">
              <a:rPr lang="pl-PL" smtClean="0"/>
              <a:t>3.12.2025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7E58A-03F7-50FB-76D9-52D058D5C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D3599-DB64-C563-FE0A-9875EC3C9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F560F-BF39-4CDC-B62C-FE2ECA017D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93471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6D038E-158B-F038-AEBF-094142E31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79585-8500-3847-41FB-F2F0D6525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5019E-2706-0751-B2E8-3CB45F447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052B-1B56-4D59-8D53-9A7C63125F71}" type="datetimeFigureOut">
              <a:rPr lang="pl-PL" smtClean="0"/>
              <a:t>3.12.2025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9DBC-B03E-6830-BEE7-2E8D1C9E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AD81D-B964-75B4-0C6E-C2E58D8E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F560F-BF39-4CDC-B62C-FE2ECA017D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4577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40F794-947A-13F9-C04F-BB937809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62EC3-1EBD-A114-4C59-053C9EDE7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E2C18-5DCB-2435-403E-6447A69D6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0052B-1B56-4D59-8D53-9A7C63125F71}" type="datetimeFigureOut">
              <a:rPr lang="pl-PL" smtClean="0"/>
              <a:t>3.12.2025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901F1-14FB-C08A-1F21-185BECBF7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B7582-28BB-7A8F-E895-5095A2C22C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3F560F-BF39-4CDC-B62C-FE2ECA017D2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68841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F2A7A-D4A3-1CE7-974C-6EFF09C7F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908" y="1220919"/>
            <a:ext cx="5425781" cy="2387600"/>
          </a:xfrm>
        </p:spPr>
        <p:txBody>
          <a:bodyPr>
            <a:normAutofit/>
          </a:bodyPr>
          <a:lstStyle/>
          <a:p>
            <a:pPr algn="l"/>
            <a:r>
              <a:rPr lang="pl-PL" sz="5100" dirty="0"/>
              <a:t>Wzorzec projektowy </a:t>
            </a:r>
            <a:r>
              <a:rPr lang="pl-PL" sz="5100" dirty="0">
                <a:solidFill>
                  <a:schemeClr val="accent2"/>
                </a:solidFill>
              </a:rPr>
              <a:t>Mediator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FFD94-9CF4-BEAB-ABC1-4C437F6C4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0908" y="3700594"/>
            <a:ext cx="5425781" cy="16557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l-PL" dirty="0"/>
              <a:t>Jak uprościć komunikację w systemie i uniknąć spaghetti </a:t>
            </a:r>
            <a:r>
              <a:rPr lang="pl-PL" dirty="0" err="1"/>
              <a:t>code</a:t>
            </a:r>
            <a:endParaRPr lang="pl-PL" dirty="0"/>
          </a:p>
          <a:p>
            <a:pPr algn="l"/>
            <a:endParaRPr lang="pl-PL" dirty="0"/>
          </a:p>
          <a:p>
            <a:pPr algn="l"/>
            <a:endParaRPr lang="pl-PL" dirty="0"/>
          </a:p>
          <a:p>
            <a:pPr algn="l"/>
            <a:r>
              <a:rPr lang="pl-PL" dirty="0"/>
              <a:t>Michał Dziwik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8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0CD1C-5B76-1338-FD8A-D7F143E7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Historia i pochodzenie wzorca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F30D02-AE14-249A-BDCC-01B36AB0FA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70153" y="1526033"/>
            <a:ext cx="5536397" cy="39352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pl-PL" altLang="pl-P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Wzorzec został opisany w </a:t>
            </a:r>
            <a:r>
              <a:rPr kumimoji="0" lang="pl-PL" altLang="pl-PL" sz="2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Gang of </a:t>
            </a:r>
            <a:r>
              <a:rPr kumimoji="0" lang="pl-PL" altLang="pl-PL" sz="26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Four</a:t>
            </a:r>
            <a:r>
              <a:rPr kumimoji="0" lang="pl-PL" altLang="pl-PL" sz="2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(Design </a:t>
            </a:r>
            <a:r>
              <a:rPr kumimoji="0" lang="pl-PL" altLang="pl-PL" sz="26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Patterns</a:t>
            </a:r>
            <a:r>
              <a:rPr kumimoji="0" lang="pl-PL" altLang="pl-PL" sz="2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1994)</a:t>
            </a:r>
            <a:endParaRPr kumimoji="0" lang="pl-PL" altLang="pl-PL" sz="2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pl-PL" altLang="pl-PL" sz="2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pl-PL" altLang="pl-P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Został zainspirowany mediacją w psychologii — rozwiązywanie konfliktów poprzez „osobę trzecią”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pl-PL" altLang="pl-PL" sz="2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pl-PL" altLang="pl-P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 nowoczesnych systemach </a:t>
            </a:r>
            <a:r>
              <a:rPr kumimoji="0" lang="pl-PL" altLang="pl-PL" sz="26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pattern</a:t>
            </a:r>
            <a:r>
              <a:rPr kumimoji="0" lang="pl-PL" altLang="pl-P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jest fundamentem architektury, </a:t>
            </a:r>
            <a:br>
              <a:rPr kumimoji="0" lang="pl-PL" altLang="pl-P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pl-PL" altLang="pl-P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np. </a:t>
            </a:r>
            <a:r>
              <a:rPr kumimoji="0" lang="pl-PL" altLang="pl-PL" sz="26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MediatR</a:t>
            </a:r>
            <a:r>
              <a:rPr kumimoji="0" lang="pl-PL" altLang="pl-PL" sz="2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 .NET</a:t>
            </a:r>
            <a:r>
              <a:rPr kumimoji="0" lang="pl-PL" altLang="pl-P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pl-PL" altLang="pl-PL" sz="2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Message Bus</a:t>
            </a:r>
            <a:r>
              <a:rPr kumimoji="0" lang="pl-PL" altLang="pl-PL" sz="2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pl-PL" altLang="pl-PL" sz="2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CQRS</a:t>
            </a:r>
            <a:endParaRPr kumimoji="0" lang="pl-PL" altLang="pl-PL" sz="2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585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84DC2-3FA2-AFA3-96F4-AEB4FFBF8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pl-PL" dirty="0">
                <a:solidFill>
                  <a:srgbClr val="FFFFFF"/>
                </a:solidFill>
              </a:rPr>
              <a:t>Problem, </a:t>
            </a:r>
            <a:r>
              <a:rPr lang="pl-PL">
                <a:solidFill>
                  <a:srgbClr val="FFFFFF"/>
                </a:solidFill>
              </a:rPr>
              <a:t>zbyt wiele zależności</a:t>
            </a:r>
            <a:endParaRPr lang="pl-PL" dirty="0">
              <a:solidFill>
                <a:srgbClr val="FFFFFF"/>
              </a:solidFill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3692D-FF28-E2EB-3F7A-BCBFB3D2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600"/>
              <a:t>W dużych systemach komponenty:</a:t>
            </a:r>
          </a:p>
          <a:p>
            <a:r>
              <a:rPr lang="pl-PL" sz="2600"/>
              <a:t>komunikują się ze sobą bezpośrednio</a:t>
            </a:r>
          </a:p>
          <a:p>
            <a:r>
              <a:rPr lang="pl-PL" sz="2600"/>
              <a:t>wzajemnie się kontrolują</a:t>
            </a:r>
          </a:p>
          <a:p>
            <a:r>
              <a:rPr lang="pl-PL" sz="2600"/>
              <a:t>stają się silnie powiązane (wysokie sprzężenie)</a:t>
            </a:r>
          </a:p>
          <a:p>
            <a:pPr marL="0" indent="0">
              <a:buNone/>
            </a:pPr>
            <a:r>
              <a:rPr lang="pl-PL" sz="2600"/>
              <a:t>Skutki:</a:t>
            </a:r>
          </a:p>
          <a:p>
            <a:r>
              <a:rPr lang="pl-PL" sz="2600"/>
              <a:t>trudny rozwój systemu</a:t>
            </a:r>
          </a:p>
          <a:p>
            <a:r>
              <a:rPr lang="pl-PL" sz="2600"/>
              <a:t>każda zmiana wymaga modyfikacji wielu klas</a:t>
            </a:r>
          </a:p>
          <a:p>
            <a:r>
              <a:rPr lang="pl-PL" sz="2600"/>
              <a:t>powstaje tzw. „spaghetti </a:t>
            </a:r>
            <a:r>
              <a:rPr lang="pl-PL" sz="2600" err="1"/>
              <a:t>dependencies</a:t>
            </a:r>
            <a:r>
              <a:rPr lang="pl-PL" sz="2600"/>
              <a:t>”</a:t>
            </a:r>
          </a:p>
          <a:p>
            <a:r>
              <a:rPr lang="pl-PL" sz="2600"/>
              <a:t>maleje czytelność i stabilność projektu</a:t>
            </a:r>
          </a:p>
          <a:p>
            <a:pPr marL="0" indent="0">
              <a:buNone/>
            </a:pPr>
            <a:r>
              <a:rPr lang="pl-PL" sz="2600" b="1"/>
              <a:t>Potrzebne jest miejsce centralizujące komunikację — mediator.</a:t>
            </a:r>
            <a:endParaRPr lang="pl-PL" sz="2600"/>
          </a:p>
        </p:txBody>
      </p:sp>
    </p:spTree>
    <p:extLst>
      <p:ext uri="{BB962C8B-B14F-4D97-AF65-F5344CB8AC3E}">
        <p14:creationId xmlns:p14="http://schemas.microsoft.com/office/powerpoint/2010/main" val="2288634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3D170-BE3E-7C55-16F0-D2C59FC3B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Idea mediatora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8884AA-3639-58DF-1EA3-E5138DF04D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pl-PL" sz="2000"/>
              <a:t>Mediator:</a:t>
            </a:r>
          </a:p>
          <a:p>
            <a:r>
              <a:rPr lang="pl-PL" sz="2000" b="1"/>
              <a:t>pośredniczy</a:t>
            </a:r>
            <a:r>
              <a:rPr lang="pl-PL" sz="2000"/>
              <a:t> w komunikacji między obiektami</a:t>
            </a:r>
          </a:p>
          <a:p>
            <a:r>
              <a:rPr lang="pl-PL" sz="2000"/>
              <a:t>eliminuje bezpośrednie połączenia między komponentami</a:t>
            </a:r>
          </a:p>
          <a:p>
            <a:r>
              <a:rPr lang="pl-PL" sz="2000"/>
              <a:t>centralizuje logikę interakcji</a:t>
            </a:r>
          </a:p>
          <a:p>
            <a:r>
              <a:rPr lang="pl-PL" sz="2000"/>
              <a:t>decyduje, które obiekty mają zareagować na dane zdarzenie</a:t>
            </a:r>
          </a:p>
          <a:p>
            <a:pPr marL="0" indent="0">
              <a:buNone/>
            </a:pPr>
            <a:r>
              <a:rPr lang="pl-PL" sz="2000"/>
              <a:t>Komponenty (</a:t>
            </a:r>
            <a:r>
              <a:rPr lang="pl-PL" sz="2000" err="1"/>
              <a:t>colleagues</a:t>
            </a:r>
            <a:r>
              <a:rPr lang="pl-PL" sz="2000"/>
              <a:t>):</a:t>
            </a:r>
          </a:p>
          <a:p>
            <a:r>
              <a:rPr lang="pl-PL" sz="2000"/>
              <a:t>nie znają się nawzajem</a:t>
            </a:r>
          </a:p>
          <a:p>
            <a:r>
              <a:rPr lang="pl-PL" sz="2000"/>
              <a:t>komunikują się tylko poprzez Mediatora</a:t>
            </a:r>
          </a:p>
          <a:p>
            <a:r>
              <a:rPr lang="pl-PL" sz="2000"/>
              <a:t>wysyłają do niego zdarzenia (</a:t>
            </a:r>
            <a:r>
              <a:rPr lang="pl-PL" sz="2000" err="1"/>
              <a:t>Notify</a:t>
            </a:r>
            <a:r>
              <a:rPr lang="pl-PL" sz="2000"/>
              <a:t>(</a:t>
            </a:r>
            <a:r>
              <a:rPr lang="pl-PL" sz="2000" err="1"/>
              <a:t>sender</a:t>
            </a:r>
            <a:r>
              <a:rPr lang="pl-PL" sz="2000"/>
              <a:t>, event))</a:t>
            </a:r>
          </a:p>
          <a:p>
            <a:pPr marL="0" indent="0">
              <a:buNone/>
            </a:pPr>
            <a:r>
              <a:rPr lang="pl-PL" sz="2000"/>
              <a:t>Efekt:</a:t>
            </a:r>
          </a:p>
          <a:p>
            <a:r>
              <a:rPr lang="pl-PL" sz="2000"/>
              <a:t>mniejsza liczba zależności</a:t>
            </a:r>
          </a:p>
          <a:p>
            <a:r>
              <a:rPr lang="pl-PL" sz="2000"/>
              <a:t>czystsza i bardziej modularna architektura</a:t>
            </a:r>
          </a:p>
        </p:txBody>
      </p:sp>
    </p:spTree>
    <p:extLst>
      <p:ext uri="{BB962C8B-B14F-4D97-AF65-F5344CB8AC3E}">
        <p14:creationId xmlns:p14="http://schemas.microsoft.com/office/powerpoint/2010/main" val="100368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6D4D5-DA90-DD4A-17D2-24E91AF8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 klas wzorca Mediator</a:t>
            </a:r>
          </a:p>
        </p:txBody>
      </p:sp>
      <p:pic>
        <p:nvPicPr>
          <p:cNvPr id="1026" name="Picture 2" descr="PlantUML diagram">
            <a:extLst>
              <a:ext uri="{FF2B5EF4-FFF2-40B4-BE49-F238E27FC236}">
                <a16:creationId xmlns:a16="http://schemas.microsoft.com/office/drawing/2014/main" id="{4B728F7D-7C1B-A88E-1932-8B1B272379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1178201"/>
            <a:ext cx="6780700" cy="4499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733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3FA9A-A39F-51AF-1374-593144DCC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pl-PL" sz="5400" dirty="0"/>
              <a:t>Jak to działa w praktyce?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BF7EB-618A-C2EC-EC49-20F651073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pl-PL" dirty="0"/>
              <a:t>Na przykładzie dialogu logowania:</a:t>
            </a:r>
          </a:p>
          <a:p>
            <a:r>
              <a:rPr lang="pl-PL" dirty="0" err="1"/>
              <a:t>UsernameTextBox</a:t>
            </a:r>
            <a:r>
              <a:rPr lang="pl-PL" dirty="0"/>
              <a:t>, </a:t>
            </a:r>
            <a:r>
              <a:rPr lang="pl-PL" dirty="0" err="1"/>
              <a:t>PasswordTextBox</a:t>
            </a:r>
            <a:r>
              <a:rPr lang="pl-PL" dirty="0"/>
              <a:t>, </a:t>
            </a:r>
            <a:r>
              <a:rPr lang="pl-PL" dirty="0" err="1"/>
              <a:t>LoginButton</a:t>
            </a:r>
            <a:r>
              <a:rPr lang="pl-PL" dirty="0"/>
              <a:t>, </a:t>
            </a:r>
            <a:r>
              <a:rPr lang="pl-PL" dirty="0" err="1"/>
              <a:t>ErrorLabel</a:t>
            </a:r>
            <a:br>
              <a:rPr lang="pl-PL" dirty="0"/>
            </a:br>
            <a:r>
              <a:rPr lang="pl-PL" dirty="0"/>
              <a:t>- nie komunikują się bezpośrednio</a:t>
            </a:r>
          </a:p>
          <a:p>
            <a:r>
              <a:rPr lang="pl-PL" dirty="0"/>
              <a:t>Każdy z nich zgłasza zdarzenia do Mediatora:</a:t>
            </a:r>
          </a:p>
          <a:p>
            <a:pPr lvl="1"/>
            <a:r>
              <a:rPr lang="pl-PL" dirty="0" err="1"/>
              <a:t>Click</a:t>
            </a:r>
            <a:endParaRPr lang="pl-PL" dirty="0"/>
          </a:p>
          <a:p>
            <a:pPr lvl="1"/>
            <a:r>
              <a:rPr lang="pl-PL" dirty="0" err="1"/>
              <a:t>Changed</a:t>
            </a:r>
            <a:endParaRPr lang="pl-PL" dirty="0"/>
          </a:p>
          <a:p>
            <a:r>
              <a:rPr lang="pl-PL" dirty="0" err="1"/>
              <a:t>LoginDialogMediator</a:t>
            </a:r>
            <a:r>
              <a:rPr lang="pl-PL" dirty="0"/>
              <a:t> decyduje:</a:t>
            </a:r>
          </a:p>
          <a:p>
            <a:pPr lvl="1"/>
            <a:r>
              <a:rPr lang="pl-PL" dirty="0"/>
              <a:t>kiedy wyświetlić błąd</a:t>
            </a:r>
          </a:p>
          <a:p>
            <a:pPr lvl="1"/>
            <a:r>
              <a:rPr lang="pl-PL" dirty="0"/>
              <a:t>kiedy wykonać walidację</a:t>
            </a:r>
          </a:p>
          <a:p>
            <a:pPr lvl="1"/>
            <a:r>
              <a:rPr lang="pl-PL" dirty="0"/>
              <a:t>kiedy inicjować logowanie</a:t>
            </a:r>
          </a:p>
          <a:p>
            <a:r>
              <a:rPr lang="pl-PL" dirty="0"/>
              <a:t>Mediator staje się </a:t>
            </a:r>
            <a:r>
              <a:rPr lang="pl-PL" b="1" dirty="0"/>
              <a:t>centrum sterowania</a:t>
            </a:r>
            <a:r>
              <a:rPr lang="pl-PL" dirty="0"/>
              <a:t> całego okna.</a:t>
            </a:r>
          </a:p>
        </p:txBody>
      </p:sp>
    </p:spTree>
    <p:extLst>
      <p:ext uri="{BB962C8B-B14F-4D97-AF65-F5344CB8AC3E}">
        <p14:creationId xmlns:p14="http://schemas.microsoft.com/office/powerpoint/2010/main" val="526151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E0C243-75C4-90A4-6D40-F24A0F325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Fragment kodu: Mediator (C#)</a:t>
            </a:r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701B955-097E-62A3-5089-BBB697BA3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9577" y="643466"/>
            <a:ext cx="4956177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448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871BF-7403-21F3-E48F-1FFDA5308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Fragment kodu: Komponent (Colleague)</a:t>
            </a:r>
          </a:p>
        </p:txBody>
      </p:sp>
      <p:pic>
        <p:nvPicPr>
          <p:cNvPr id="5" name="Content Placeholder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1D3053DC-C794-4571-29DB-5013F2E7D2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707080"/>
            <a:ext cx="6780700" cy="544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693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D892B6-547E-9E97-E89E-016539B94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l-PL" b="1">
                <a:solidFill>
                  <a:srgbClr val="FFFFFF"/>
                </a:solidFill>
              </a:rPr>
              <a:t>Główne korzyści</a:t>
            </a:r>
            <a:endParaRPr lang="pl-PL">
              <a:solidFill>
                <a:srgbClr val="FFFFFF"/>
              </a:solidFill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E365-2CAC-A38E-8373-7835A3E23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b="1" dirty="0"/>
              <a:t>1. Redukcja zależności między obiektami</a:t>
            </a:r>
          </a:p>
          <a:p>
            <a:pPr marL="0" indent="0">
              <a:buNone/>
            </a:pPr>
            <a:r>
              <a:rPr lang="pl-PL" sz="2000" dirty="0"/>
              <a:t>Komponenty znają tylko Mediatora – nie muszą wiedzieć </a:t>
            </a:r>
            <a:br>
              <a:rPr lang="pl-PL" sz="2000" dirty="0"/>
            </a:br>
            <a:r>
              <a:rPr lang="pl-PL" sz="2000" dirty="0"/>
              <a:t>o innych klasach.</a:t>
            </a:r>
          </a:p>
          <a:p>
            <a:pPr marL="0" indent="0">
              <a:buNone/>
            </a:pPr>
            <a:r>
              <a:rPr lang="pl-PL" sz="2000" b="1" dirty="0"/>
              <a:t>2. Centralizacja logiki</a:t>
            </a:r>
          </a:p>
          <a:p>
            <a:pPr marL="0" indent="0">
              <a:buNone/>
            </a:pPr>
            <a:r>
              <a:rPr lang="pl-PL" sz="2000" dirty="0"/>
              <a:t>Cała logika interakcji znajduje się w jednej klasie (</a:t>
            </a:r>
            <a:r>
              <a:rPr lang="pl-PL" sz="2000" dirty="0" err="1"/>
              <a:t>LoginDialogMediator</a:t>
            </a:r>
            <a:r>
              <a:rPr lang="pl-PL" sz="2000" dirty="0"/>
              <a:t>).z</a:t>
            </a:r>
          </a:p>
          <a:p>
            <a:pPr marL="0" indent="0">
              <a:buNone/>
            </a:pPr>
            <a:r>
              <a:rPr lang="pl-PL" sz="2000" b="1" dirty="0"/>
              <a:t>3. Skalowalność i łatwa rozbudowa</a:t>
            </a:r>
          </a:p>
          <a:p>
            <a:pPr marL="0" indent="0">
              <a:buNone/>
            </a:pPr>
            <a:r>
              <a:rPr lang="pl-PL" sz="2000" dirty="0"/>
              <a:t>Dodanie nowych komponentów nie psuje istniejącej architektury.</a:t>
            </a:r>
          </a:p>
          <a:p>
            <a:pPr marL="0" indent="0">
              <a:buNone/>
            </a:pPr>
            <a:r>
              <a:rPr lang="pl-PL" sz="2000" b="1" dirty="0"/>
              <a:t>4. Ułatwione testowanie</a:t>
            </a:r>
          </a:p>
          <a:p>
            <a:pPr marL="0" indent="0">
              <a:buNone/>
            </a:pPr>
            <a:r>
              <a:rPr lang="pl-PL" sz="2000" dirty="0"/>
              <a:t>Można testować Mediatora bez UI, a komponenty bez zależności.</a:t>
            </a:r>
          </a:p>
          <a:p>
            <a:pPr marL="0" indent="0">
              <a:buNone/>
            </a:pPr>
            <a:r>
              <a:rPr lang="pl-PL" sz="2000" b="1" dirty="0"/>
              <a:t>5. </a:t>
            </a:r>
            <a:r>
              <a:rPr lang="pl-PL" sz="2000" b="1" dirty="0" err="1"/>
              <a:t>Separation</a:t>
            </a:r>
            <a:r>
              <a:rPr lang="pl-PL" sz="2000" b="1" dirty="0"/>
              <a:t> of </a:t>
            </a:r>
            <a:r>
              <a:rPr lang="pl-PL" sz="2000" b="1" dirty="0" err="1"/>
              <a:t>Concerns</a:t>
            </a:r>
            <a:endParaRPr lang="pl-PL" sz="2000" b="1" dirty="0"/>
          </a:p>
          <a:p>
            <a:pPr marL="0" indent="0">
              <a:buNone/>
            </a:pPr>
            <a:r>
              <a:rPr lang="pl-PL" sz="2000" dirty="0"/>
              <a:t>Komponenty są proste, „głupie” – tylko zgłaszają zdarzenia.</a:t>
            </a:r>
          </a:p>
          <a:p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2092669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EF10B9-170D-62C9-1BF2-4E2E549B6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pl-PL" sz="4100">
                <a:solidFill>
                  <a:srgbClr val="FFFFFF"/>
                </a:solidFill>
              </a:rPr>
              <a:t>Praktyczne zastosowania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EFAEE-0505-A0DB-B764-D0F0BA2B8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600" b="1"/>
              <a:t>Interfejsy użytkownika (WPF, </a:t>
            </a:r>
            <a:r>
              <a:rPr lang="pl-PL" sz="2600" b="1" err="1"/>
              <a:t>WinForms</a:t>
            </a:r>
            <a:r>
              <a:rPr lang="pl-PL" sz="2600" b="1"/>
              <a:t>, MAUI)</a:t>
            </a:r>
          </a:p>
          <a:p>
            <a:r>
              <a:rPr lang="pl-PL" sz="2600"/>
              <a:t>Formularze, dialogi, kreatory wieloetapowe.</a:t>
            </a:r>
          </a:p>
          <a:p>
            <a:pPr marL="0" indent="0">
              <a:buNone/>
            </a:pPr>
            <a:r>
              <a:rPr lang="pl-PL" sz="2600" b="1"/>
              <a:t>Gry komputerowe</a:t>
            </a:r>
          </a:p>
          <a:p>
            <a:r>
              <a:rPr lang="pl-PL" sz="2600"/>
              <a:t>Komunikacja między systemami: HUD, </a:t>
            </a:r>
            <a:r>
              <a:rPr lang="pl-PL" sz="2600" err="1"/>
              <a:t>inventory</a:t>
            </a:r>
            <a:r>
              <a:rPr lang="pl-PL" sz="2600"/>
              <a:t>, </a:t>
            </a:r>
            <a:r>
              <a:rPr lang="pl-PL" sz="2600" err="1"/>
              <a:t>questy</a:t>
            </a:r>
            <a:r>
              <a:rPr lang="pl-PL" sz="2600"/>
              <a:t>.</a:t>
            </a:r>
          </a:p>
          <a:p>
            <a:pPr marL="0" indent="0">
              <a:buNone/>
            </a:pPr>
            <a:r>
              <a:rPr lang="pl-PL" sz="2600" b="1"/>
              <a:t>Aplikacje biznesowe</a:t>
            </a:r>
          </a:p>
          <a:p>
            <a:r>
              <a:rPr lang="pl-PL" sz="2600"/>
              <a:t>Orkiestracja zdarzeń: złożenie zamówienia, walidacja danych, </a:t>
            </a:r>
            <a:r>
              <a:rPr lang="pl-PL" sz="2600" err="1"/>
              <a:t>workflow</a:t>
            </a:r>
            <a:r>
              <a:rPr lang="pl-PL" sz="2600"/>
              <a:t>.</a:t>
            </a:r>
          </a:p>
          <a:p>
            <a:pPr marL="0" indent="0">
              <a:buNone/>
            </a:pPr>
            <a:r>
              <a:rPr lang="pl-PL" sz="2600" b="1"/>
              <a:t>Architektury CQRS / </a:t>
            </a:r>
            <a:r>
              <a:rPr lang="pl-PL" sz="2600" b="1" err="1"/>
              <a:t>MediatR</a:t>
            </a:r>
            <a:r>
              <a:rPr lang="pl-PL" sz="2600" b="1"/>
              <a:t> (.NET)</a:t>
            </a:r>
          </a:p>
          <a:p>
            <a:r>
              <a:rPr lang="pl-PL" sz="2600"/>
              <a:t>Mediator obsługuje komendy, zapytania i notyfikacje.</a:t>
            </a:r>
          </a:p>
          <a:p>
            <a:endParaRPr lang="pl-PL" sz="2600"/>
          </a:p>
        </p:txBody>
      </p:sp>
    </p:spTree>
    <p:extLst>
      <p:ext uri="{BB962C8B-B14F-4D97-AF65-F5344CB8AC3E}">
        <p14:creationId xmlns:p14="http://schemas.microsoft.com/office/powerpoint/2010/main" val="2263605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9FD3A-C9E5-C42F-CB55-63FAC110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Ograniczenia wzorca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ECFC0-3A09-20C6-D92E-DC8177E99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600" b="1"/>
              <a:t>Ryzyko „</a:t>
            </a:r>
            <a:r>
              <a:rPr lang="pl-PL" sz="2600" b="1" err="1"/>
              <a:t>god</a:t>
            </a:r>
            <a:r>
              <a:rPr lang="pl-PL" sz="2600" b="1"/>
              <a:t> </a:t>
            </a:r>
            <a:r>
              <a:rPr lang="pl-PL" sz="2600" b="1" err="1"/>
              <a:t>object</a:t>
            </a:r>
            <a:r>
              <a:rPr lang="pl-PL" sz="2600" b="1"/>
              <a:t>”</a:t>
            </a:r>
          </a:p>
          <a:p>
            <a:r>
              <a:rPr lang="pl-PL" sz="2600"/>
              <a:t>Mediator może stać się zbyt duży — trzeba dbać o modularność.</a:t>
            </a:r>
          </a:p>
          <a:p>
            <a:pPr marL="0" indent="0">
              <a:buNone/>
            </a:pPr>
            <a:r>
              <a:rPr lang="pl-PL" sz="2600" b="1"/>
              <a:t>Ukryte zależności</a:t>
            </a:r>
          </a:p>
          <a:p>
            <a:r>
              <a:rPr lang="pl-PL" sz="2600"/>
              <a:t>Zamiast zależności między komponentami, trudna logika przenosi się do Mediatora.</a:t>
            </a:r>
          </a:p>
          <a:p>
            <a:pPr marL="0" indent="0">
              <a:buNone/>
            </a:pPr>
            <a:r>
              <a:rPr lang="pl-PL" sz="2600" b="1"/>
              <a:t>Nie opłaca się w prostych systemach</a:t>
            </a:r>
          </a:p>
          <a:p>
            <a:r>
              <a:rPr lang="pl-PL" sz="2600"/>
              <a:t>Dla małych formularzy Mediator może być przerostem formy nad treścią.</a:t>
            </a:r>
          </a:p>
          <a:p>
            <a:pPr marL="0" indent="0">
              <a:buNone/>
            </a:pPr>
            <a:r>
              <a:rPr lang="pl-PL" sz="2600" b="1"/>
              <a:t>Potencjalne obciążenie</a:t>
            </a:r>
          </a:p>
          <a:p>
            <a:r>
              <a:rPr lang="pl-PL" sz="2600"/>
              <a:t>Przy dużych interakcjach Mediator staje się wąskim gardłem.</a:t>
            </a:r>
          </a:p>
          <a:p>
            <a:endParaRPr lang="pl-PL" sz="2600"/>
          </a:p>
        </p:txBody>
      </p:sp>
    </p:spTree>
    <p:extLst>
      <p:ext uri="{BB962C8B-B14F-4D97-AF65-F5344CB8AC3E}">
        <p14:creationId xmlns:p14="http://schemas.microsoft.com/office/powerpoint/2010/main" val="293058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94C5C-88B7-826A-A871-84EE18928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5558489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Podsumowanie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D6E4E-DC0B-7AC7-B490-B1D39F819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825625"/>
            <a:ext cx="5558489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200" dirty="0"/>
              <a:t>Mediator jest </a:t>
            </a:r>
            <a:r>
              <a:rPr lang="en-US" sz="2200" dirty="0" err="1"/>
              <a:t>świetny</a:t>
            </a:r>
            <a:r>
              <a:rPr lang="en-US" sz="2200" dirty="0"/>
              <a:t>, </a:t>
            </a:r>
            <a:r>
              <a:rPr lang="en-US" sz="2200" dirty="0" err="1"/>
              <a:t>gdy</a:t>
            </a:r>
            <a:r>
              <a:rPr lang="en-US" sz="2200" dirty="0"/>
              <a:t> </a:t>
            </a:r>
            <a:r>
              <a:rPr lang="en-US" sz="2200" dirty="0" err="1"/>
              <a:t>wiele</a:t>
            </a:r>
            <a:r>
              <a:rPr lang="en-US" sz="2200" dirty="0"/>
              <a:t> </a:t>
            </a:r>
            <a:r>
              <a:rPr lang="en-US" sz="2200" dirty="0" err="1"/>
              <a:t>komponentów</a:t>
            </a:r>
            <a:r>
              <a:rPr lang="en-US" sz="2200" dirty="0"/>
              <a:t> </a:t>
            </a:r>
            <a:r>
              <a:rPr lang="en-US" sz="2200" dirty="0" err="1"/>
              <a:t>musi</a:t>
            </a:r>
            <a:r>
              <a:rPr lang="en-US" sz="2200" dirty="0"/>
              <a:t> ze </a:t>
            </a:r>
            <a:r>
              <a:rPr lang="en-US" sz="2200" dirty="0" err="1"/>
              <a:t>sobą</a:t>
            </a:r>
            <a:r>
              <a:rPr lang="en-US" sz="2200" dirty="0"/>
              <a:t> </a:t>
            </a:r>
            <a:r>
              <a:rPr lang="en-US" sz="2200" dirty="0" err="1"/>
              <a:t>współpracować</a:t>
            </a:r>
            <a:r>
              <a:rPr lang="en-US" sz="2200" dirty="0"/>
              <a:t>.</a:t>
            </a:r>
          </a:p>
          <a:p>
            <a:pPr algn="l"/>
            <a:r>
              <a:rPr lang="en-US" sz="2200" dirty="0" err="1"/>
              <a:t>Upraszcza</a:t>
            </a:r>
            <a:r>
              <a:rPr lang="en-US" sz="2200" dirty="0"/>
              <a:t> </a:t>
            </a:r>
            <a:r>
              <a:rPr lang="en-US" sz="2200" dirty="0" err="1"/>
              <a:t>architekturę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</a:t>
            </a:r>
            <a:r>
              <a:rPr lang="en-US" sz="2200" dirty="0" err="1"/>
              <a:t>eliminuje</a:t>
            </a:r>
            <a:r>
              <a:rPr lang="en-US" sz="2200" dirty="0"/>
              <a:t> chaos </a:t>
            </a:r>
            <a:r>
              <a:rPr lang="en-US" sz="2200" dirty="0" err="1"/>
              <a:t>zależności</a:t>
            </a:r>
            <a:r>
              <a:rPr lang="en-US" sz="2200" dirty="0"/>
              <a:t>.</a:t>
            </a:r>
          </a:p>
          <a:p>
            <a:pPr algn="l"/>
            <a:r>
              <a:rPr lang="en-US" sz="2200" dirty="0" err="1"/>
              <a:t>Zwiększa</a:t>
            </a:r>
            <a:r>
              <a:rPr lang="en-US" sz="2200" dirty="0"/>
              <a:t> </a:t>
            </a:r>
            <a:r>
              <a:rPr lang="en-US" sz="2200" dirty="0" err="1"/>
              <a:t>czytelność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</a:t>
            </a:r>
            <a:r>
              <a:rPr lang="en-US" sz="2200" dirty="0" err="1"/>
              <a:t>modularność</a:t>
            </a:r>
            <a:r>
              <a:rPr lang="en-US" sz="2200" dirty="0"/>
              <a:t> </a:t>
            </a:r>
            <a:r>
              <a:rPr lang="en-US" sz="2200" dirty="0" err="1"/>
              <a:t>kodu</a:t>
            </a:r>
            <a:r>
              <a:rPr lang="en-US" sz="2200" dirty="0"/>
              <a:t>.</a:t>
            </a:r>
          </a:p>
          <a:p>
            <a:pPr algn="l"/>
            <a:r>
              <a:rPr lang="en-US" sz="2200" dirty="0"/>
              <a:t>Jest </a:t>
            </a:r>
            <a:r>
              <a:rPr lang="en-US" sz="2200" dirty="0" err="1"/>
              <a:t>fundamentem</a:t>
            </a:r>
            <a:r>
              <a:rPr lang="en-US" sz="2200" dirty="0"/>
              <a:t> m.in. </a:t>
            </a:r>
            <a:r>
              <a:rPr lang="en-US" sz="2200" dirty="0" err="1"/>
              <a:t>MediatR</a:t>
            </a:r>
            <a:r>
              <a:rPr lang="en-US" sz="2200" dirty="0"/>
              <a:t>, </a:t>
            </a:r>
            <a:r>
              <a:rPr lang="en-US" sz="2200" dirty="0" err="1"/>
              <a:t>systemów</a:t>
            </a:r>
            <a:r>
              <a:rPr lang="en-US" sz="2200" dirty="0"/>
              <a:t> event-driven, UI </a:t>
            </a:r>
            <a:r>
              <a:rPr lang="en-US" sz="2200" dirty="0" err="1"/>
              <a:t>i</a:t>
            </a:r>
            <a:r>
              <a:rPr lang="en-US" sz="2200" dirty="0"/>
              <a:t> gameplay logic.</a:t>
            </a:r>
          </a:p>
          <a:p>
            <a:pPr algn="l"/>
            <a:r>
              <a:rPr lang="en-US" sz="2200" dirty="0" err="1"/>
              <a:t>Trzeba</a:t>
            </a:r>
            <a:r>
              <a:rPr lang="en-US" sz="2200" dirty="0"/>
              <a:t> </a:t>
            </a:r>
            <a:r>
              <a:rPr lang="en-US" sz="2200" dirty="0" err="1"/>
              <a:t>uważać</a:t>
            </a:r>
            <a:r>
              <a:rPr lang="en-US" sz="2200" dirty="0"/>
              <a:t>, </a:t>
            </a:r>
            <a:r>
              <a:rPr lang="en-US" sz="2200" dirty="0" err="1"/>
              <a:t>żeby</a:t>
            </a:r>
            <a:r>
              <a:rPr lang="en-US" sz="2200" dirty="0"/>
              <a:t> </a:t>
            </a:r>
            <a:r>
              <a:rPr lang="en-US" sz="2200" dirty="0" err="1"/>
              <a:t>nie</a:t>
            </a:r>
            <a:r>
              <a:rPr lang="en-US" sz="2200" dirty="0"/>
              <a:t> </a:t>
            </a:r>
            <a:r>
              <a:rPr lang="en-US" sz="2200" dirty="0" err="1"/>
              <a:t>rozdmuchać</a:t>
            </a:r>
            <a:r>
              <a:rPr lang="en-US" sz="2200" dirty="0"/>
              <a:t> </a:t>
            </a:r>
            <a:r>
              <a:rPr lang="en-US" sz="2200" dirty="0" err="1"/>
              <a:t>klasy</a:t>
            </a:r>
            <a:r>
              <a:rPr lang="en-US" sz="2200" dirty="0"/>
              <a:t> </a:t>
            </a:r>
            <a:r>
              <a:rPr lang="en-US" sz="2200" dirty="0" err="1"/>
              <a:t>Mediatora</a:t>
            </a:r>
            <a:r>
              <a:rPr lang="en-US" sz="2200" dirty="0"/>
              <a:t>.</a:t>
            </a:r>
          </a:p>
          <a:p>
            <a:pPr algn="l"/>
            <a:r>
              <a:rPr lang="en-US" sz="2200" b="1" dirty="0"/>
              <a:t>Mediator = </a:t>
            </a:r>
            <a:r>
              <a:rPr lang="en-US" sz="2200" b="1" dirty="0" err="1"/>
              <a:t>czysta</a:t>
            </a:r>
            <a:r>
              <a:rPr lang="en-US" sz="2200" b="1" dirty="0"/>
              <a:t> </a:t>
            </a:r>
            <a:r>
              <a:rPr lang="en-US" sz="2200" b="1" dirty="0" err="1"/>
              <a:t>komunikacja</a:t>
            </a:r>
            <a:r>
              <a:rPr lang="en-US" sz="2200" b="1" dirty="0"/>
              <a:t> + </a:t>
            </a:r>
            <a:r>
              <a:rPr lang="en-US" sz="2200" b="1" dirty="0" err="1"/>
              <a:t>porządek</a:t>
            </a:r>
            <a:r>
              <a:rPr lang="en-US" sz="2200" b="1" dirty="0"/>
              <a:t> w </a:t>
            </a:r>
            <a:r>
              <a:rPr lang="en-US" sz="2200" b="1" dirty="0" err="1"/>
              <a:t>architekturze</a:t>
            </a:r>
            <a:r>
              <a:rPr lang="en-US" sz="2200" b="1" dirty="0"/>
              <a:t>.</a:t>
            </a:r>
            <a:endParaRPr lang="en-US" sz="22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Block Arc 34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430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515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Wzorzec projektowy Mediator</vt:lpstr>
      <vt:lpstr>Historia i pochodzenie wzorca</vt:lpstr>
      <vt:lpstr>Problem, zbyt wiele zależności</vt:lpstr>
      <vt:lpstr>Idea mediatora</vt:lpstr>
      <vt:lpstr>Diagram klas wzorca Mediator</vt:lpstr>
      <vt:lpstr>Jak to działa w praktyce?</vt:lpstr>
      <vt:lpstr>Fragment kodu: Mediator (C#)</vt:lpstr>
      <vt:lpstr>Fragment kodu: Komponent (Colleague)</vt:lpstr>
      <vt:lpstr>Główne korzyści</vt:lpstr>
      <vt:lpstr>Praktyczne zastosowania</vt:lpstr>
      <vt:lpstr>Ograniczenia wzorca</vt:lpstr>
      <vt:lpstr>Podsumowanie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Michał Dziwik</dc:creator>
  <cp:lastModifiedBy>Michał Dziwik</cp:lastModifiedBy>
  <cp:revision>4</cp:revision>
  <dcterms:created xsi:type="dcterms:W3CDTF">2025-11-18T13:25:02Z</dcterms:created>
  <dcterms:modified xsi:type="dcterms:W3CDTF">2025-12-03T23:23:35Z</dcterms:modified>
</cp:coreProperties>
</file>